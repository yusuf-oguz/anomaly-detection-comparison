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6"/>
  </p:notesMasterIdLst>
  <p:sldIdLst>
    <p:sldId id="261" r:id="rId2"/>
    <p:sldId id="262" r:id="rId3"/>
    <p:sldId id="263" r:id="rId4"/>
    <p:sldId id="265" r:id="rId5"/>
    <p:sldId id="267" r:id="rId6"/>
    <p:sldId id="268" r:id="rId7"/>
    <p:sldId id="266" r:id="rId8"/>
    <p:sldId id="269" r:id="rId9"/>
    <p:sldId id="260" r:id="rId10"/>
    <p:sldId id="270" r:id="rId11"/>
    <p:sldId id="271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usuf Oğuz" initials="YO" lastIdx="2" clrIdx="0">
    <p:extLst>
      <p:ext uri="{19B8F6BF-5375-455C-9EA6-DF929625EA0E}">
        <p15:presenceInfo xmlns:p15="http://schemas.microsoft.com/office/powerpoint/2012/main" userId="Yusuf Oğu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5829" autoAdjust="0"/>
  </p:normalViewPr>
  <p:slideViewPr>
    <p:cSldViewPr snapToGrid="0">
      <p:cViewPr>
        <p:scale>
          <a:sx n="89" d="100"/>
          <a:sy n="89" d="100"/>
        </p:scale>
        <p:origin x="43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-274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74" d="100"/>
          <a:sy n="74" d="100"/>
        </p:scale>
        <p:origin x="2976" y="9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1FD699-288B-4AAC-B753-F475C633ED59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0CD27-C69F-4C96-ABB2-F324BC291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48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0CD27-C69F-4C96-ABB2-F324BC2916D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64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0CD27-C69F-4C96-ABB2-F324BC2916D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39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0CD27-C69F-4C96-ABB2-F324BC2916D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19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0CD27-C69F-4C96-ABB2-F324BC2916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54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0CD27-C69F-4C96-ABB2-F324BC2916D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02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0CD27-C69F-4C96-ABB2-F324BC2916D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42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0CD27-C69F-4C96-ABB2-F324BC2916D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97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0CD27-C69F-4C96-ABB2-F324BC2916D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068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0CD27-C69F-4C96-ABB2-F324BC2916D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16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0CD27-C69F-4C96-ABB2-F324BC2916D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01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0CD27-C69F-4C96-ABB2-F324BC2916D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57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0CD27-C69F-4C96-ABB2-F324BC2916D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28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0CD27-C69F-4C96-ABB2-F324BC2916D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27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AB02-0B70-4084-B6FE-CA744EC461EE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57E8-8B8A-4CDB-9351-4E445AB07FC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216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AB02-0B70-4084-B6FE-CA744EC461EE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57E8-8B8A-4CDB-9351-4E445AB07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AB02-0B70-4084-B6FE-CA744EC461EE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57E8-8B8A-4CDB-9351-4E445AB07FC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481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AB02-0B70-4084-B6FE-CA744EC461EE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57E8-8B8A-4CDB-9351-4E445AB07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29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AB02-0B70-4084-B6FE-CA744EC461EE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57E8-8B8A-4CDB-9351-4E445AB07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95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AB02-0B70-4084-B6FE-CA744EC461EE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57E8-8B8A-4CDB-9351-4E445AB07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58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AB02-0B70-4084-B6FE-CA744EC461EE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57E8-8B8A-4CDB-9351-4E445AB07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35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052AB02-0B70-4084-B6FE-CA744EC461EE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AE57E8-8B8A-4CDB-9351-4E445AB07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78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AB02-0B70-4084-B6FE-CA744EC461EE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57E8-8B8A-4CDB-9351-4E445AB07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01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AB02-0B70-4084-B6FE-CA744EC461EE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57E8-8B8A-4CDB-9351-4E445AB07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32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AB02-0B70-4084-B6FE-CA744EC461EE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57E8-8B8A-4CDB-9351-4E445AB07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71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052AB02-0B70-4084-B6FE-CA744EC461EE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5AE57E8-8B8A-4CDB-9351-4E445AB07FC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670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9063F51-9584-4027-B952-FF4B6EBD371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661981" y="2202750"/>
            <a:ext cx="8563234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Comparative Study of Traditional and Backpropagation-Free Deep Learning Methods for Anomaly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014309A-C1CD-40E0-9CAA-784FBC5FC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3933" y="4413601"/>
            <a:ext cx="9259330" cy="891568"/>
          </a:xfrm>
        </p:spPr>
        <p:txBody>
          <a:bodyPr>
            <a:normAutofit lnSpcReduction="10000"/>
          </a:bodyPr>
          <a:lstStyle/>
          <a:p>
            <a:r>
              <a:rPr lang="tr-TR" dirty="0"/>
              <a:t>Yusuf Oğuz</a:t>
            </a:r>
          </a:p>
          <a:p>
            <a:r>
              <a:rPr lang="tr-TR" dirty="0"/>
              <a:t>150220322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BAB1D8B-1B4E-4CE4-9418-45DDB19F9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065" y="908707"/>
            <a:ext cx="102478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tr-TR" altLang="en-US" sz="4800" b="1" dirty="0">
                <a:latin typeface="Arial" panose="020B0604020202020204" pitchFamily="34" charset="0"/>
              </a:rPr>
              <a:t>LEARNING FROM DATA PROJECT</a:t>
            </a:r>
            <a:endParaRPr lang="en-US" altLang="en-US" sz="48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922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359B758-0EF1-4C7C-BA20-F63C69725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968" y="337751"/>
            <a:ext cx="10117712" cy="1399609"/>
          </a:xfrm>
        </p:spPr>
        <p:txBody>
          <a:bodyPr/>
          <a:lstStyle/>
          <a:p>
            <a:r>
              <a:rPr lang="tr-TR" dirty="0"/>
              <a:t>Problem:</a:t>
            </a:r>
            <a:endParaRPr lang="en-US" dirty="0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58AA746-6F23-4055-9063-5DEB1A10A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Tradıtıonal</a:t>
            </a:r>
            <a:r>
              <a:rPr lang="tr-TR" dirty="0"/>
              <a:t> </a:t>
            </a:r>
            <a:r>
              <a:rPr lang="tr-TR" dirty="0" err="1"/>
              <a:t>methods</a:t>
            </a:r>
            <a:r>
              <a:rPr lang="tr-TR" dirty="0"/>
              <a:t> (</a:t>
            </a:r>
            <a:r>
              <a:rPr lang="tr-TR" dirty="0" err="1"/>
              <a:t>Lıke</a:t>
            </a:r>
            <a:r>
              <a:rPr lang="tr-TR" dirty="0"/>
              <a:t> </a:t>
            </a:r>
            <a:r>
              <a:rPr lang="tr-TR" dirty="0" err="1"/>
              <a:t>ısolatıon</a:t>
            </a:r>
            <a:r>
              <a:rPr lang="tr-TR" dirty="0"/>
              <a:t> </a:t>
            </a:r>
            <a:r>
              <a:rPr lang="tr-TR" dirty="0" err="1"/>
              <a:t>forest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one</a:t>
            </a:r>
            <a:r>
              <a:rPr lang="tr-TR" dirty="0"/>
              <a:t> </a:t>
            </a: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svm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739F693-65CE-4186-A00D-9FAB0A7AD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1083504"/>
          </a:xfrm>
        </p:spPr>
        <p:txBody>
          <a:bodyPr/>
          <a:lstStyle/>
          <a:p>
            <a:r>
              <a:rPr lang="tr-TR" dirty="0"/>
              <a:t>-</a:t>
            </a:r>
            <a:r>
              <a:rPr lang="tr-TR" dirty="0" err="1"/>
              <a:t>Fast</a:t>
            </a:r>
            <a:endParaRPr lang="tr-TR" dirty="0"/>
          </a:p>
          <a:p>
            <a:r>
              <a:rPr lang="tr-TR" dirty="0"/>
              <a:t>-</a:t>
            </a:r>
            <a:r>
              <a:rPr lang="tr-TR" dirty="0" err="1"/>
              <a:t>Insufficent</a:t>
            </a:r>
            <a:r>
              <a:rPr lang="tr-TR" dirty="0"/>
              <a:t> </a:t>
            </a:r>
            <a:r>
              <a:rPr lang="tr-TR" dirty="0" err="1"/>
              <a:t>Accuracy</a:t>
            </a:r>
            <a:endParaRPr lang="en-US" dirty="0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B17DC4D4-47AA-4BFC-854A-5D378C203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tr-TR" dirty="0" err="1"/>
              <a:t>Deep</a:t>
            </a:r>
            <a:r>
              <a:rPr lang="tr-TR" dirty="0"/>
              <a:t> </a:t>
            </a:r>
            <a:r>
              <a:rPr lang="tr-TR" dirty="0" err="1"/>
              <a:t>learnıng</a:t>
            </a:r>
            <a:r>
              <a:rPr lang="tr-TR" dirty="0"/>
              <a:t> </a:t>
            </a:r>
            <a:r>
              <a:rPr lang="tr-TR" dirty="0" err="1"/>
              <a:t>approaches</a:t>
            </a:r>
            <a:r>
              <a:rPr lang="tr-TR" dirty="0"/>
              <a:t>(</a:t>
            </a:r>
            <a:r>
              <a:rPr lang="tr-TR" dirty="0" err="1"/>
              <a:t>lıke</a:t>
            </a:r>
            <a:r>
              <a:rPr lang="tr-TR" dirty="0"/>
              <a:t> </a:t>
            </a:r>
            <a:r>
              <a:rPr lang="tr-TR" dirty="0" err="1"/>
              <a:t>autoencoder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8D37094-929B-4501-9DB1-ABA50F802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1083504"/>
          </a:xfrm>
        </p:spPr>
        <p:txBody>
          <a:bodyPr/>
          <a:lstStyle/>
          <a:p>
            <a:r>
              <a:rPr lang="tr-TR" dirty="0"/>
              <a:t>-</a:t>
            </a:r>
            <a:r>
              <a:rPr lang="tr-TR" dirty="0" err="1"/>
              <a:t>Slow</a:t>
            </a:r>
            <a:endParaRPr lang="tr-TR" dirty="0"/>
          </a:p>
          <a:p>
            <a:r>
              <a:rPr lang="tr-TR" dirty="0"/>
              <a:t>-</a:t>
            </a:r>
            <a:r>
              <a:rPr lang="tr-TR" dirty="0" err="1"/>
              <a:t>Generally</a:t>
            </a:r>
            <a:r>
              <a:rPr lang="tr-TR" dirty="0"/>
              <a:t> High </a:t>
            </a:r>
            <a:r>
              <a:rPr lang="tr-TR" dirty="0" err="1"/>
              <a:t>Accuracy</a:t>
            </a:r>
            <a:endParaRPr lang="en-US" dirty="0"/>
          </a:p>
        </p:txBody>
      </p:sp>
      <p:sp>
        <p:nvSpPr>
          <p:cNvPr id="9" name="Başlık 1">
            <a:extLst>
              <a:ext uri="{FF2B5EF4-FFF2-40B4-BE49-F238E27FC236}">
                <a16:creationId xmlns:a16="http://schemas.microsoft.com/office/drawing/2014/main" id="{A21B4560-17FB-4C58-98DA-7427AC33A20E}"/>
              </a:ext>
            </a:extLst>
          </p:cNvPr>
          <p:cNvSpPr txBox="1">
            <a:spLocks/>
          </p:cNvSpPr>
          <p:nvPr/>
        </p:nvSpPr>
        <p:spPr>
          <a:xfrm>
            <a:off x="2772033" y="4176584"/>
            <a:ext cx="5968313" cy="647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3200" dirty="0"/>
              <a:t>But </a:t>
            </a:r>
            <a:r>
              <a:rPr lang="tr-TR" sz="3200" dirty="0" err="1"/>
              <a:t>we</a:t>
            </a:r>
            <a:r>
              <a:rPr lang="tr-TR" sz="3200" dirty="0"/>
              <a:t> </a:t>
            </a:r>
            <a:r>
              <a:rPr lang="tr-TR" sz="3200" dirty="0" err="1"/>
              <a:t>need</a:t>
            </a:r>
            <a:r>
              <a:rPr lang="tr-TR" sz="3200" dirty="0"/>
              <a:t> </a:t>
            </a:r>
            <a:r>
              <a:rPr lang="tr-TR" sz="3200" dirty="0" err="1"/>
              <a:t>both</a:t>
            </a:r>
            <a:r>
              <a:rPr lang="tr-TR" sz="3200" dirty="0"/>
              <a:t> </a:t>
            </a:r>
            <a:r>
              <a:rPr lang="tr-TR" sz="3200" dirty="0" err="1"/>
              <a:t>fast</a:t>
            </a:r>
            <a:r>
              <a:rPr lang="tr-TR" sz="3200" dirty="0"/>
              <a:t> </a:t>
            </a:r>
            <a:r>
              <a:rPr lang="tr-TR" sz="3200" dirty="0" err="1"/>
              <a:t>and</a:t>
            </a:r>
            <a:r>
              <a:rPr lang="tr-TR" sz="3200" dirty="0"/>
              <a:t> </a:t>
            </a:r>
            <a:r>
              <a:rPr lang="tr-TR" sz="3200" dirty="0" err="1"/>
              <a:t>accurate</a:t>
            </a:r>
            <a:r>
              <a:rPr lang="tr-TR" sz="3200" dirty="0"/>
              <a:t>!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43700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FACCCBB-0457-44D2-8F08-726621296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Hypothesis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4ED5AB0-1880-4527-93F3-7288A6B59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583266"/>
          </a:xfrm>
        </p:spPr>
        <p:txBody>
          <a:bodyPr/>
          <a:lstStyle/>
          <a:p>
            <a:r>
              <a:rPr lang="tr-TR" b="1" dirty="0"/>
              <a:t>B</a:t>
            </a:r>
            <a:r>
              <a:rPr lang="en-US" b="1" dirty="0" err="1"/>
              <a:t>ackpropagation</a:t>
            </a:r>
            <a:r>
              <a:rPr lang="en-US" b="1" dirty="0"/>
              <a:t>-free</a:t>
            </a:r>
            <a:r>
              <a:rPr lang="en-US" dirty="0"/>
              <a:t> deep learning methods like </a:t>
            </a:r>
            <a:r>
              <a:rPr lang="en-US" b="1" dirty="0" err="1"/>
              <a:t>PatchCore</a:t>
            </a:r>
            <a:r>
              <a:rPr lang="en-US" dirty="0"/>
              <a:t> and </a:t>
            </a:r>
            <a:r>
              <a:rPr lang="en-US" b="1" dirty="0" err="1"/>
              <a:t>PaDiM</a:t>
            </a:r>
            <a:r>
              <a:rPr lang="en-US" dirty="0"/>
              <a:t> offer the most efficient solution. They provide accuracy comparable to much heavier models, but with a significantly lower computational cost.</a:t>
            </a:r>
          </a:p>
        </p:txBody>
      </p:sp>
    </p:spTree>
    <p:extLst>
      <p:ext uri="{BB962C8B-B14F-4D97-AF65-F5344CB8AC3E}">
        <p14:creationId xmlns:p14="http://schemas.microsoft.com/office/powerpoint/2010/main" val="3575639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6F9E595-AE40-4470-BC50-F23D88990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Methodology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454E85E-D423-43DA-A2D7-E0C277F25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37038"/>
            <a:ext cx="10058400" cy="403205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Methods Used: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       -</a:t>
            </a:r>
            <a:r>
              <a:rPr lang="en-US" b="1" dirty="0"/>
              <a:t>Traditional:</a:t>
            </a:r>
            <a:r>
              <a:rPr lang="en-US" dirty="0"/>
              <a:t> Isolation Forest, One-Class SVM</a:t>
            </a:r>
          </a:p>
          <a:p>
            <a:pPr marL="0" indent="0">
              <a:buNone/>
            </a:pPr>
            <a:r>
              <a:rPr lang="tr-TR" dirty="0"/>
              <a:t>       -</a:t>
            </a:r>
            <a:r>
              <a:rPr lang="en-US" b="1" dirty="0"/>
              <a:t>Heavy Reference:</a:t>
            </a:r>
            <a:r>
              <a:rPr lang="en-US" dirty="0"/>
              <a:t> Autoencoder</a:t>
            </a:r>
          </a:p>
          <a:p>
            <a:pPr marL="0" indent="0">
              <a:buNone/>
            </a:pPr>
            <a:r>
              <a:rPr lang="tr-TR" dirty="0"/>
              <a:t>       -</a:t>
            </a:r>
            <a:r>
              <a:rPr lang="en-US" b="1" dirty="0"/>
              <a:t>Backpropagation-Free:</a:t>
            </a:r>
            <a:r>
              <a:rPr lang="en-US" dirty="0"/>
              <a:t> </a:t>
            </a:r>
            <a:r>
              <a:rPr lang="en-US" dirty="0" err="1"/>
              <a:t>PatchCore</a:t>
            </a:r>
            <a:r>
              <a:rPr lang="en-US" dirty="0"/>
              <a:t>, </a:t>
            </a:r>
            <a:r>
              <a:rPr lang="en-US" dirty="0" err="1"/>
              <a:t>PaDiM</a:t>
            </a:r>
            <a:endParaRPr lang="tr-TR" dirty="0"/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Dataset:</a:t>
            </a:r>
            <a:r>
              <a:rPr lang="en-US" dirty="0"/>
              <a:t> Carpet, Bottle, Hazelnut categories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en-US" dirty="0" err="1"/>
              <a:t>MVTec</a:t>
            </a:r>
            <a:r>
              <a:rPr lang="tr-TR" dirty="0"/>
              <a:t> AD </a:t>
            </a:r>
            <a:r>
              <a:rPr lang="tr-TR" dirty="0" err="1"/>
              <a:t>dataset</a:t>
            </a:r>
            <a:r>
              <a:rPr lang="en-US" dirty="0"/>
              <a:t>.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Success Metrics:</a:t>
            </a:r>
            <a:r>
              <a:rPr lang="en-US" dirty="0"/>
              <a:t> AUC and </a:t>
            </a:r>
            <a:r>
              <a:rPr lang="tr-TR" dirty="0" err="1"/>
              <a:t>Code</a:t>
            </a:r>
            <a:r>
              <a:rPr lang="en-US" dirty="0"/>
              <a:t> </a:t>
            </a:r>
            <a:r>
              <a:rPr lang="tr-TR" dirty="0" err="1"/>
              <a:t>Running</a:t>
            </a:r>
            <a:r>
              <a:rPr lang="en-US" dirty="0"/>
              <a:t> Time </a:t>
            </a:r>
            <a:r>
              <a:rPr lang="tr-TR" dirty="0"/>
              <a:t>,Minute</a:t>
            </a:r>
            <a:r>
              <a:rPr lang="en-US" dirty="0"/>
              <a:t>s</a:t>
            </a:r>
            <a:r>
              <a:rPr lang="tr-TR" dirty="0"/>
              <a:t>(</a:t>
            </a:r>
            <a:r>
              <a:rPr lang="tr-TR" dirty="0" err="1"/>
              <a:t>For</a:t>
            </a:r>
            <a:r>
              <a:rPr lang="tr-TR" dirty="0"/>
              <a:t> A100 GPU</a:t>
            </a:r>
            <a:r>
              <a:rPr lang="en-US" dirty="0"/>
              <a:t>)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Environment: </a:t>
            </a:r>
            <a:r>
              <a:rPr lang="tr-TR" dirty="0"/>
              <a:t>Google </a:t>
            </a:r>
            <a:r>
              <a:rPr lang="tr-TR" dirty="0" err="1"/>
              <a:t>Colab</a:t>
            </a:r>
            <a:r>
              <a:rPr lang="tr-TR" dirty="0"/>
              <a:t> / A100 GPU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222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C4C01AD-F1FA-4915-9B3D-DDD8EF54F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677224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Bottle</a:t>
            </a:r>
            <a:endParaRPr lang="en-US" dirty="0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6C1CF11-01AC-440E-B20A-307DB1F6A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8540" y="1036799"/>
            <a:ext cx="4937760" cy="736282"/>
          </a:xfrm>
        </p:spPr>
        <p:txBody>
          <a:bodyPr/>
          <a:lstStyle/>
          <a:p>
            <a:r>
              <a:rPr lang="tr-TR" dirty="0" err="1"/>
              <a:t>NOrmal</a:t>
            </a:r>
            <a:endParaRPr lang="en-US" dirty="0"/>
          </a:p>
        </p:txBody>
      </p:sp>
      <p:pic>
        <p:nvPicPr>
          <p:cNvPr id="8" name="İçerik Yer Tutucusu 7">
            <a:extLst>
              <a:ext uri="{FF2B5EF4-FFF2-40B4-BE49-F238E27FC236}">
                <a16:creationId xmlns:a16="http://schemas.microsoft.com/office/drawing/2014/main" id="{29E9B792-8F07-447E-A292-55BA39E4D1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371" y="1713470"/>
            <a:ext cx="4520309" cy="4520309"/>
          </a:xfrm>
        </p:spPr>
      </p:pic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E257FAA-83B0-4ED7-B51B-24998495D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1690" y="1036799"/>
            <a:ext cx="4937760" cy="736282"/>
          </a:xfrm>
        </p:spPr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anomalous</a:t>
            </a:r>
            <a:endParaRPr lang="en-US" dirty="0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EE3530B8-A141-4F9F-904A-A60E0232EC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82" y="1846052"/>
            <a:ext cx="4434534" cy="443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518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47E7E13-E0FE-4A54-AAD3-1AF685812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1036799"/>
            <a:ext cx="4937760" cy="736282"/>
          </a:xfrm>
        </p:spPr>
        <p:txBody>
          <a:bodyPr/>
          <a:lstStyle/>
          <a:p>
            <a:r>
              <a:rPr lang="tr-TR" dirty="0"/>
              <a:t>Normal</a:t>
            </a:r>
            <a:endParaRPr lang="en-US" dirty="0"/>
          </a:p>
        </p:txBody>
      </p:sp>
      <p:pic>
        <p:nvPicPr>
          <p:cNvPr id="8" name="İçerik Yer Tutucusu 7">
            <a:extLst>
              <a:ext uri="{FF2B5EF4-FFF2-40B4-BE49-F238E27FC236}">
                <a16:creationId xmlns:a16="http://schemas.microsoft.com/office/drawing/2014/main" id="{AF822A67-5C78-4511-810F-668B6B0324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795284"/>
            <a:ext cx="4158515" cy="4158515"/>
          </a:xfrm>
        </p:spPr>
      </p:pic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9C770431-0B6B-4CD6-B856-42EA1DA6F9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7920" y="1059002"/>
            <a:ext cx="4937760" cy="736282"/>
          </a:xfrm>
        </p:spPr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anomalous</a:t>
            </a:r>
            <a:endParaRPr lang="en-US" dirty="0"/>
          </a:p>
        </p:txBody>
      </p:sp>
      <p:pic>
        <p:nvPicPr>
          <p:cNvPr id="10" name="İçerik Yer Tutucusu 9">
            <a:extLst>
              <a:ext uri="{FF2B5EF4-FFF2-40B4-BE49-F238E27FC236}">
                <a16:creationId xmlns:a16="http://schemas.microsoft.com/office/drawing/2014/main" id="{71C3D4BA-4AA0-4C03-99A5-317EBAA8090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713" y="1773081"/>
            <a:ext cx="4158515" cy="4158515"/>
          </a:xfrm>
        </p:spPr>
      </p:pic>
      <p:sp>
        <p:nvSpPr>
          <p:cNvPr id="11" name="Başlık 1">
            <a:extLst>
              <a:ext uri="{FF2B5EF4-FFF2-40B4-BE49-F238E27FC236}">
                <a16:creationId xmlns:a16="http://schemas.microsoft.com/office/drawing/2014/main" id="{8F3217B1-66F9-4A8D-BEBB-BCCBE2E66FED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67722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 err="1"/>
              <a:t>Hazelnut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477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E3BECE6-88E4-4349-A1CF-1DD07C087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79" y="963828"/>
            <a:ext cx="4937760" cy="736282"/>
          </a:xfrm>
        </p:spPr>
        <p:txBody>
          <a:bodyPr/>
          <a:lstStyle/>
          <a:p>
            <a:r>
              <a:rPr lang="tr-TR" dirty="0"/>
              <a:t>Normal</a:t>
            </a:r>
            <a:endParaRPr lang="en-US" dirty="0"/>
          </a:p>
        </p:txBody>
      </p:sp>
      <p:pic>
        <p:nvPicPr>
          <p:cNvPr id="8" name="İçerik Yer Tutucusu 7">
            <a:extLst>
              <a:ext uri="{FF2B5EF4-FFF2-40B4-BE49-F238E27FC236}">
                <a16:creationId xmlns:a16="http://schemas.microsoft.com/office/drawing/2014/main" id="{F5FB9938-CC5F-4473-971A-FD476311D0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9" y="1840928"/>
            <a:ext cx="4196615" cy="4196615"/>
          </a:xfrm>
        </p:spPr>
      </p:pic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402A5DF8-4839-47C9-8E65-511780CC34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7920" y="963828"/>
            <a:ext cx="4937760" cy="736282"/>
          </a:xfrm>
        </p:spPr>
        <p:txBody>
          <a:bodyPr/>
          <a:lstStyle/>
          <a:p>
            <a:r>
              <a:rPr lang="tr-TR" dirty="0" err="1"/>
              <a:t>Anomaly</a:t>
            </a:r>
            <a:endParaRPr lang="en-US" dirty="0"/>
          </a:p>
        </p:txBody>
      </p:sp>
      <p:pic>
        <p:nvPicPr>
          <p:cNvPr id="10" name="İçerik Yer Tutucusu 9">
            <a:extLst>
              <a:ext uri="{FF2B5EF4-FFF2-40B4-BE49-F238E27FC236}">
                <a16:creationId xmlns:a16="http://schemas.microsoft.com/office/drawing/2014/main" id="{7460E890-462F-4C81-B8CD-0D9D09F043D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400" y="1840928"/>
            <a:ext cx="4196615" cy="4196615"/>
          </a:xfrm>
        </p:spPr>
      </p:pic>
      <p:sp>
        <p:nvSpPr>
          <p:cNvPr id="11" name="Başlık 1">
            <a:extLst>
              <a:ext uri="{FF2B5EF4-FFF2-40B4-BE49-F238E27FC236}">
                <a16:creationId xmlns:a16="http://schemas.microsoft.com/office/drawing/2014/main" id="{D53F8D07-441A-4D52-B5C1-410DDEAF7CA5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67722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 err="1"/>
              <a:t>Carpet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879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D0BA8A0-A5FB-44F6-AA61-03DD84D17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048" y="105722"/>
            <a:ext cx="10058400" cy="792554"/>
          </a:xfrm>
        </p:spPr>
        <p:txBody>
          <a:bodyPr/>
          <a:lstStyle/>
          <a:p>
            <a:r>
              <a:rPr lang="tr-TR" dirty="0" err="1"/>
              <a:t>All</a:t>
            </a:r>
            <a:r>
              <a:rPr lang="tr-TR" dirty="0"/>
              <a:t> </a:t>
            </a:r>
            <a:r>
              <a:rPr lang="tr-TR" dirty="0" err="1"/>
              <a:t>Results</a:t>
            </a:r>
            <a:r>
              <a:rPr lang="tr-TR" dirty="0"/>
              <a:t>:</a:t>
            </a:r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80EF2012-3DF7-4D45-83DE-B8082E89C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126" y="897414"/>
            <a:ext cx="6706536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105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05754385-E178-45F4-A665-8B3A8183E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409" y="208037"/>
            <a:ext cx="5734850" cy="1400370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91DABEEC-86F6-4B6B-A4AD-8CC7DC4F3E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110" y="1813285"/>
            <a:ext cx="9105449" cy="4958217"/>
          </a:xfrm>
          <a:prstGeom prst="rect">
            <a:avLst/>
          </a:prstGeom>
        </p:spPr>
      </p:pic>
      <p:sp>
        <p:nvSpPr>
          <p:cNvPr id="9" name="Başlık 1">
            <a:extLst>
              <a:ext uri="{FF2B5EF4-FFF2-40B4-BE49-F238E27FC236}">
                <a16:creationId xmlns:a16="http://schemas.microsoft.com/office/drawing/2014/main" id="{F16D9C4F-0F0F-4869-ADDF-8445ADE798B1}"/>
              </a:ext>
            </a:extLst>
          </p:cNvPr>
          <p:cNvSpPr txBox="1">
            <a:spLocks/>
          </p:cNvSpPr>
          <p:nvPr/>
        </p:nvSpPr>
        <p:spPr>
          <a:xfrm>
            <a:off x="916048" y="105722"/>
            <a:ext cx="2799217" cy="19784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 err="1"/>
              <a:t>Category</a:t>
            </a:r>
            <a:r>
              <a:rPr lang="tr-TR" dirty="0"/>
              <a:t> </a:t>
            </a:r>
            <a:r>
              <a:rPr lang="tr-TR" dirty="0" err="1"/>
              <a:t>Based</a:t>
            </a:r>
            <a:endParaRPr lang="tr-TR" dirty="0"/>
          </a:p>
          <a:p>
            <a:r>
              <a:rPr lang="tr-TR" dirty="0" err="1"/>
              <a:t>Results</a:t>
            </a:r>
            <a:r>
              <a:rPr lang="tr-TR" dirty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408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D61CEFC-3086-4BF1-86B3-DA71DF37506E}"/>
              </a:ext>
            </a:extLst>
          </p:cNvPr>
          <p:cNvSpPr txBox="1">
            <a:spLocks/>
          </p:cNvSpPr>
          <p:nvPr/>
        </p:nvSpPr>
        <p:spPr>
          <a:xfrm>
            <a:off x="916048" y="105722"/>
            <a:ext cx="2799217" cy="19784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 err="1"/>
              <a:t>Method</a:t>
            </a:r>
            <a:r>
              <a:rPr lang="tr-TR" dirty="0"/>
              <a:t> </a:t>
            </a:r>
            <a:r>
              <a:rPr lang="tr-TR" dirty="0" err="1"/>
              <a:t>Based</a:t>
            </a:r>
            <a:endParaRPr lang="tr-TR" dirty="0"/>
          </a:p>
          <a:p>
            <a:r>
              <a:rPr lang="tr-TR" dirty="0" err="1"/>
              <a:t>Results</a:t>
            </a:r>
            <a:r>
              <a:rPr lang="tr-TR" dirty="0"/>
              <a:t>:</a:t>
            </a:r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BC27D362-BC18-490A-9159-6C0E266FB4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667" y="1988128"/>
            <a:ext cx="8040428" cy="4528638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D7A8B803-3580-48C1-BA7B-FBC59D9F42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325" y="165137"/>
            <a:ext cx="4880034" cy="176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670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2EFE1FE-80FA-42FA-8B39-E1DAB546D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Problem 1: «</a:t>
            </a:r>
            <a:r>
              <a:rPr lang="tr-TR" dirty="0" err="1"/>
              <a:t>Even</a:t>
            </a: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traditional</a:t>
            </a:r>
            <a:r>
              <a:rPr lang="tr-TR" dirty="0"/>
              <a:t> </a:t>
            </a:r>
            <a:r>
              <a:rPr lang="tr-TR" dirty="0" err="1"/>
              <a:t>methods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fast</a:t>
            </a:r>
            <a:r>
              <a:rPr lang="tr-TR" dirty="0"/>
              <a:t>, </a:t>
            </a:r>
            <a:r>
              <a:rPr lang="tr-TR" dirty="0" err="1"/>
              <a:t>they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not </a:t>
            </a:r>
            <a:r>
              <a:rPr lang="tr-TR" dirty="0" err="1"/>
              <a:t>reliable</a:t>
            </a:r>
            <a:r>
              <a:rPr lang="tr-TR" dirty="0"/>
              <a:t>»</a:t>
            </a:r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B626C48F-14EE-4D90-BACF-43FAABB1B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63" y="2065427"/>
            <a:ext cx="5294387" cy="4160528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3C30E2CF-8A0D-49D1-A0E3-C20DCA8728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508" y="2065427"/>
            <a:ext cx="4096520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160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1">
            <a:extLst>
              <a:ext uri="{FF2B5EF4-FFF2-40B4-BE49-F238E27FC236}">
                <a16:creationId xmlns:a16="http://schemas.microsoft.com/office/drawing/2014/main" id="{7D8B4E86-6064-4D49-8A8B-A5C427F38F80}"/>
              </a:ext>
            </a:extLst>
          </p:cNvPr>
          <p:cNvSpPr txBox="1">
            <a:spLocks/>
          </p:cNvSpPr>
          <p:nvPr/>
        </p:nvSpPr>
        <p:spPr>
          <a:xfrm>
            <a:off x="1066800" y="282484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/>
              <a:t>Problem 2: «</a:t>
            </a:r>
            <a:r>
              <a:rPr lang="tr-TR" dirty="0" err="1"/>
              <a:t>Even</a:t>
            </a: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heavy</a:t>
            </a:r>
            <a:r>
              <a:rPr lang="tr-TR" dirty="0"/>
              <a:t> </a:t>
            </a:r>
            <a:r>
              <a:rPr lang="tr-TR" dirty="0" err="1"/>
              <a:t>methods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accurate</a:t>
            </a:r>
            <a:r>
              <a:rPr lang="tr-TR" dirty="0"/>
              <a:t>, </a:t>
            </a:r>
            <a:r>
              <a:rPr lang="tr-TR" dirty="0" err="1"/>
              <a:t>they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too</a:t>
            </a:r>
            <a:r>
              <a:rPr lang="tr-TR" dirty="0"/>
              <a:t> </a:t>
            </a:r>
            <a:r>
              <a:rPr lang="tr-TR" dirty="0" err="1"/>
              <a:t>slow</a:t>
            </a:r>
            <a:r>
              <a:rPr lang="tr-TR" dirty="0"/>
              <a:t>»</a:t>
            </a:r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2FA7527C-FDA9-4E19-B681-9767ADD3D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324" y="2132436"/>
            <a:ext cx="9329351" cy="337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912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1">
            <a:extLst>
              <a:ext uri="{FF2B5EF4-FFF2-40B4-BE49-F238E27FC236}">
                <a16:creationId xmlns:a16="http://schemas.microsoft.com/office/drawing/2014/main" id="{4510EB98-4A74-4BEF-9F36-56644D2ED02B}"/>
              </a:ext>
            </a:extLst>
          </p:cNvPr>
          <p:cNvSpPr txBox="1">
            <a:spLocks/>
          </p:cNvSpPr>
          <p:nvPr/>
        </p:nvSpPr>
        <p:spPr>
          <a:xfrm>
            <a:off x="1066799" y="282484"/>
            <a:ext cx="10466173" cy="14062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3600" dirty="0" err="1"/>
              <a:t>Hypothesis</a:t>
            </a:r>
            <a:r>
              <a:rPr lang="tr-TR" sz="3600" dirty="0"/>
              <a:t> : «B</a:t>
            </a:r>
            <a:r>
              <a:rPr lang="en-US" sz="3600" dirty="0" err="1"/>
              <a:t>ackpropagation</a:t>
            </a:r>
            <a:r>
              <a:rPr lang="en-US" sz="3600" dirty="0"/>
              <a:t>-free methods like </a:t>
            </a:r>
            <a:r>
              <a:rPr lang="en-US" sz="3600" dirty="0" err="1"/>
              <a:t>PatchCore</a:t>
            </a:r>
            <a:r>
              <a:rPr lang="en-US" sz="3600" dirty="0"/>
              <a:t> and </a:t>
            </a:r>
            <a:r>
              <a:rPr lang="en-US" sz="3600" dirty="0" err="1"/>
              <a:t>PaDiM</a:t>
            </a:r>
            <a:r>
              <a:rPr lang="en-US" sz="3600" dirty="0"/>
              <a:t> </a:t>
            </a:r>
            <a:r>
              <a:rPr lang="tr-TR" sz="3600" dirty="0" err="1"/>
              <a:t>are</a:t>
            </a:r>
            <a:r>
              <a:rPr lang="tr-TR" sz="3600" dirty="0"/>
              <a:t> </a:t>
            </a:r>
            <a:r>
              <a:rPr lang="tr-TR" sz="3600" dirty="0" err="1"/>
              <a:t>the</a:t>
            </a:r>
            <a:r>
              <a:rPr lang="tr-TR" sz="3600" dirty="0"/>
              <a:t> </a:t>
            </a:r>
            <a:r>
              <a:rPr lang="tr-TR" sz="3600" dirty="0" err="1"/>
              <a:t>most</a:t>
            </a:r>
            <a:r>
              <a:rPr lang="tr-TR" sz="3600" dirty="0"/>
              <a:t> </a:t>
            </a:r>
            <a:r>
              <a:rPr lang="tr-TR" sz="3600" dirty="0" err="1"/>
              <a:t>efficient</a:t>
            </a:r>
            <a:r>
              <a:rPr lang="tr-TR" sz="3600" dirty="0"/>
              <a:t> </a:t>
            </a:r>
            <a:r>
              <a:rPr lang="tr-TR" sz="3600" dirty="0" err="1"/>
              <a:t>methods</a:t>
            </a:r>
            <a:r>
              <a:rPr lang="tr-TR" sz="3600" dirty="0"/>
              <a:t> </a:t>
            </a:r>
            <a:r>
              <a:rPr lang="tr-TR" sz="3600" dirty="0" err="1"/>
              <a:t>for</a:t>
            </a:r>
            <a:r>
              <a:rPr lang="tr-TR" sz="3600" dirty="0"/>
              <a:t> </a:t>
            </a:r>
            <a:r>
              <a:rPr lang="tr-TR" sz="3600" dirty="0" err="1"/>
              <a:t>anomaly</a:t>
            </a:r>
            <a:r>
              <a:rPr lang="tr-TR" sz="3600" dirty="0"/>
              <a:t> </a:t>
            </a:r>
            <a:r>
              <a:rPr lang="tr-TR" sz="3600" dirty="0" err="1"/>
              <a:t>detection</a:t>
            </a:r>
            <a:r>
              <a:rPr lang="tr-TR" sz="3600" dirty="0"/>
              <a:t>.»</a:t>
            </a:r>
            <a:endParaRPr lang="en-US" sz="36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A729B082-0EF6-431B-B9BF-06E39431C8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860" y="1900671"/>
            <a:ext cx="5029210" cy="4160528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DDD831B7-F0A4-48DD-B496-0A1CE293AF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848" y="1900671"/>
            <a:ext cx="4096520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354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A988106-C472-46DE-8130-4100C1555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6671" y="1977079"/>
            <a:ext cx="5938658" cy="4028303"/>
          </a:xfrm>
        </p:spPr>
        <p:txBody>
          <a:bodyPr>
            <a:noAutofit/>
          </a:bodyPr>
          <a:lstStyle/>
          <a:p>
            <a:pPr algn="ctr"/>
            <a:r>
              <a:rPr lang="tr-TR" sz="10000" dirty="0"/>
              <a:t>THANK YOU FOR LISTENING!</a:t>
            </a:r>
            <a:endParaRPr lang="en-US" sz="10000" dirty="0"/>
          </a:p>
        </p:txBody>
      </p:sp>
      <p:sp>
        <p:nvSpPr>
          <p:cNvPr id="5" name="Başlık 1">
            <a:extLst>
              <a:ext uri="{FF2B5EF4-FFF2-40B4-BE49-F238E27FC236}">
                <a16:creationId xmlns:a16="http://schemas.microsoft.com/office/drawing/2014/main" id="{DF9FA6B3-DF04-4726-8C75-0865F9FBA557}"/>
              </a:ext>
            </a:extLst>
          </p:cNvPr>
          <p:cNvSpPr txBox="1">
            <a:spLocks/>
          </p:cNvSpPr>
          <p:nvPr/>
        </p:nvSpPr>
        <p:spPr>
          <a:xfrm>
            <a:off x="3433943" y="286260"/>
            <a:ext cx="5324114" cy="15013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r-TR" sz="10000" b="1" dirty="0"/>
              <a:t>THE END</a:t>
            </a:r>
            <a:endParaRPr 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3783787755"/>
      </p:ext>
    </p:extLst>
  </p:cSld>
  <p:clrMapOvr>
    <a:masterClrMapping/>
  </p:clrMapOvr>
</p:sld>
</file>

<file path=ppt/theme/theme1.xml><?xml version="1.0" encoding="utf-8"?>
<a:theme xmlns:a="http://schemas.openxmlformats.org/drawingml/2006/main" name="Geçmişe bakış">
  <a:themeElements>
    <a:clrScheme name="Geçmişe bakış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Geçmişe bakış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çmişe bakış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546</TotalTime>
  <Words>244</Words>
  <Application>Microsoft Office PowerPoint</Application>
  <PresentationFormat>Geniş ekran</PresentationFormat>
  <Paragraphs>56</Paragraphs>
  <Slides>14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Geçmişe bakış</vt:lpstr>
      <vt:lpstr>Comparative Study of Traditional and Backpropagation-Free Deep Learning Methods for Anomaly Detection </vt:lpstr>
      <vt:lpstr>Problem:</vt:lpstr>
      <vt:lpstr>Hypothesis</vt:lpstr>
      <vt:lpstr>Methodology</vt:lpstr>
      <vt:lpstr>Bottle</vt:lpstr>
      <vt:lpstr>PowerPoint Sunusu</vt:lpstr>
      <vt:lpstr>PowerPoint Sunusu</vt:lpstr>
      <vt:lpstr>All Results:</vt:lpstr>
      <vt:lpstr>PowerPoint Sunusu</vt:lpstr>
      <vt:lpstr>PowerPoint Sunusu</vt:lpstr>
      <vt:lpstr>Problem 1: «Even if traditional methods are fast, they are not reliable»</vt:lpstr>
      <vt:lpstr>PowerPoint Sunusu</vt:lpstr>
      <vt:lpstr>PowerPoint Sunusu</vt:lpstr>
      <vt:lpstr>THANK YOU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Yusuf Oğuz</dc:creator>
  <cp:lastModifiedBy>Yusuf Oğuz</cp:lastModifiedBy>
  <cp:revision>31</cp:revision>
  <dcterms:created xsi:type="dcterms:W3CDTF">2025-06-25T06:15:38Z</dcterms:created>
  <dcterms:modified xsi:type="dcterms:W3CDTF">2025-06-25T20:07:32Z</dcterms:modified>
</cp:coreProperties>
</file>